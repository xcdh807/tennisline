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1FE00"/>
                </a:solidFill>
                <a:latin typeface="Helvetica Neue"/>
              </a:rPr>
              <a:t>PRODUCT CASE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>
                <a:solidFill>
                  <a:srgbClr val="FFFFFF"/>
                </a:solidFill>
                <a:latin typeface="Helvetica Neue"/>
              </a:rPr>
              <a:t>TennisLine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EAEA"/>
                </a:solidFill>
                <a:latin typeface="PingFang SC"/>
              </a:rPr>
              <a:t>口袋里的鹰眼 — AI 网球轨迹追踪与数据分析 Web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0A6A0"/>
                </a:solidFill>
                <a:latin typeface="PingFang SC"/>
              </a:rPr>
              <a:t>打开浏览器即可使用 · 本地 AI 识别 · 零硬件成本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03520"/>
            <a:ext cx="2926080" cy="50292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20F"/>
                </a:solidFill>
                <a:latin typeface="PingFang SC"/>
              </a:rPr>
              <a:t>产品负责人 · 0 →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349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6A0"/>
                </a:solidFill>
                <a:latin typeface="PingFang SC"/>
              </a:rPr>
              <a:t>2 个月 · 个人项目 · Web + Supabase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09360"/>
            <a:ext cx="10515600" cy="9144"/>
          </a:xfrm>
          <a:prstGeom prst="rect">
            <a:avLst/>
          </a:prstGeom>
          <a:solidFill>
            <a:srgbClr val="24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PROBLEM · 我看到了什么问题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业余球员打完球，只能靠感觉复盘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1064240" cy="68580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73152" cy="68580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专业鹰眼硬件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6A0"/>
                </a:solidFill>
                <a:latin typeface="PingFang SC"/>
              </a:rPr>
              <a:t>¥2K – ¥20W+，业余用户无法承担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1064240" cy="68580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73152" cy="68580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一对一网球教练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108960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6A0"/>
                </a:solidFill>
                <a:latin typeface="PingFang SC"/>
              </a:rPr>
              <a:t>¥300 – ¥800 / 小时，反馈链路长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11064240" cy="68580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73152" cy="68580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Swing Vision 等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931920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6A0"/>
                </a:solidFill>
                <a:latin typeface="PingFang SC"/>
              </a:rPr>
              <a:t>iOS Only · 付费订阅 · 机型限制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11064240" cy="68580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73152" cy="68580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自拍视频手动回看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754880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6A0"/>
                </a:solidFill>
                <a:latin typeface="PingFang SC"/>
              </a:rPr>
              <a:t>无数据 · 无趋势 · 没法量化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1FE00"/>
                </a:solidFill>
                <a:latin typeface="PingFang SC"/>
              </a:rPr>
              <a:t>→ 机会：摄像头 + 浏览器 CV 已经成熟，可以做一个 0 门槛替代品。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02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SOLUTION · 产品一句话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</a:rPr>
              <a:t>把职业巡回赛才有的鹰眼系统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PingFang SC"/>
              </a:rPr>
              <a:t>装进每个业余球员的手机浏览器。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356616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3566160" cy="73152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A1FE00"/>
                </a:solidFill>
                <a:latin typeface="Helvetica Neue"/>
              </a:rPr>
              <a:t>ZERO</a:t>
            </a:r>
          </a:p>
          <a:p>
            <a:pPr algn="l"/>
            <a:r>
              <a:rPr sz="2000" b="1">
                <a:solidFill>
                  <a:srgbClr val="A1FE00"/>
                </a:solidFill>
                <a:latin typeface="Helvetica Neue"/>
              </a:rPr>
              <a:t>下载门槛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6A0"/>
                </a:solidFill>
                <a:latin typeface="PingFang SC"/>
              </a:rPr>
              <a:t>Web-First · PWA</a:t>
            </a:r>
          </a:p>
          <a:p>
            <a:pPr algn="l"/>
            <a:r>
              <a:rPr sz="1300" b="0">
                <a:solidFill>
                  <a:srgbClr val="A0A6A0"/>
                </a:solidFill>
                <a:latin typeface="PingFang SC"/>
              </a:rPr>
              <a:t>一次发布，全平台触达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4206240"/>
            <a:ext cx="356616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4206240"/>
            <a:ext cx="3566160" cy="73152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4389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A1FE00"/>
                </a:solidFill>
                <a:latin typeface="Helvetica Neue"/>
              </a:rPr>
              <a:t>LOCAL</a:t>
            </a:r>
          </a:p>
          <a:p>
            <a:pPr algn="l"/>
            <a:r>
              <a:rPr sz="2000" b="1">
                <a:solidFill>
                  <a:srgbClr val="A1FE00"/>
                </a:solidFill>
                <a:latin typeface="Helvetica Neue"/>
              </a:rPr>
              <a:t>AI 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5349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6A0"/>
                </a:solidFill>
                <a:latin typeface="PingFang SC"/>
              </a:rPr>
              <a:t>算法跑在浏览器本地</a:t>
            </a:r>
          </a:p>
          <a:p>
            <a:pPr algn="l"/>
            <a:r>
              <a:rPr sz="1300" b="0">
                <a:solidFill>
                  <a:srgbClr val="A0A6A0"/>
                </a:solidFill>
                <a:latin typeface="PingFang SC"/>
              </a:rPr>
              <a:t>隐私 + 零延迟 + 零算力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4206240"/>
            <a:ext cx="356616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4206240"/>
            <a:ext cx="3566160" cy="73152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4389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A1FE00"/>
                </a:solidFill>
                <a:latin typeface="Helvetica Neue"/>
              </a:rPr>
              <a:t>INSTANT</a:t>
            </a:r>
          </a:p>
          <a:p>
            <a:pPr algn="l"/>
            <a:r>
              <a:rPr sz="2000" b="1">
                <a:solidFill>
                  <a:srgbClr val="A1FE00"/>
                </a:solidFill>
                <a:latin typeface="Helvetica Neue"/>
              </a:rPr>
              <a:t>数据沉淀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5349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6A0"/>
                </a:solidFill>
                <a:latin typeface="PingFang SC"/>
              </a:rPr>
              <a:t>注册即生成示例看板</a:t>
            </a:r>
          </a:p>
          <a:p>
            <a:pPr algn="l"/>
            <a:r>
              <a:rPr sz="1300" b="0">
                <a:solidFill>
                  <a:srgbClr val="A0A6A0"/>
                </a:solidFill>
                <a:latin typeface="PingFang SC"/>
              </a:rPr>
              <a:t>首次打开就有成品感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03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USER JOURNEY · 用户完整旅程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Welcome → Onboarding → Dashboard → Record →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148840" cy="34747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148840" cy="36576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20F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品牌落地 + 邮箱注册登录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3784" y="2377440"/>
            <a:ext cx="2148840" cy="34747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43784" y="2377440"/>
            <a:ext cx="2148840" cy="36576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23774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20F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92608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657600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3 问画像 · seed 示例数据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7" y="2377440"/>
            <a:ext cx="2148840" cy="34747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8927" y="2377440"/>
            <a:ext cx="2148840" cy="36576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3774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20F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292608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3657600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胜率 · 准确率 · 招牌动作 · 趋势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4071" y="2377440"/>
            <a:ext cx="2148840" cy="34747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34071" y="2377440"/>
            <a:ext cx="2148840" cy="36576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1" y="23774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20F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1" y="292608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1" y="3657600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拍摄/上传 · 实时 HUD · 自动保存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9215" y="2377440"/>
            <a:ext cx="2148840" cy="34747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9215" y="2377440"/>
            <a:ext cx="2148840" cy="36576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5" y="23774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20F"/>
                </a:solidFill>
                <a:latin typeface="Helvetica Neu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5" y="292608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5" y="3657600"/>
            <a:ext cx="1783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回放 · 筛选 · 删除（Storage 联动）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PingFang SC"/>
              </a:rPr>
              <a:t>设计亮点：注册即 seed 初始数据，规避 Dashboard 空状态流失。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04 /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KEY DECISIONS · 我做的 3 个关键产品决策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每个决策都可以被独立追问。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1064240" cy="128016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91440" cy="128016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01  Web-First 而非原生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PingFang SC"/>
              </a:rPr>
              <a:t>一次发布覆盖全平台；迭代从「周」降到「小时」；安卓/iOS 同步上线。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1FE00"/>
                </a:solidFill>
                <a:latin typeface="PingFang SC"/>
              </a:rPr>
              <a:t>「这不是技术妥协，是主动的产品策略。」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064240" cy="128016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91440" cy="128016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02  算法本地化，不上云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PingFang SC"/>
              </a:rPr>
              <a:t>视频帧不离开用户设备；隐私 + 零延迟 + 零服务器算力成本。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1FE00"/>
                </a:solidFill>
                <a:latin typeface="PingFang SC"/>
              </a:rPr>
              <a:t>「把「隐私承诺」作为核心差异化卖点。」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91440" cy="128016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03  注册即 seed 示例数据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PingFang SC"/>
              </a:rPr>
              <a:t>新用户首次打开 Dashboard 就是「成品感」，而非冷启动空状态。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1FE00"/>
                </a:solidFill>
                <a:latin typeface="PingFang SC"/>
              </a:rPr>
              <a:t>「不教育用户「慢慢积累」，直接给「成品感」。」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05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TECHNICAL HIGHLIGHT · 浏览器内实时 CV 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「先运动再颜色」策略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566160" cy="109728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109728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① 320×240 缩放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2194560"/>
            <a:ext cx="3566160" cy="109728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2194560"/>
            <a:ext cx="73152" cy="109728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2331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② 灰度帧差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2194560"/>
            <a:ext cx="3566160" cy="109728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2194560"/>
            <a:ext cx="73152" cy="109728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331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③ 形态学膨胀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3566160" cy="109728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73152" cy="109728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④ HSV 颜色筛选</a:t>
            </a:r>
          </a:p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   (荧光黄 H:18-48)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3566160"/>
            <a:ext cx="3566160" cy="109728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3566160"/>
            <a:ext cx="73152" cy="109728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3703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⑤ 18px 网格聚类</a:t>
            </a:r>
          </a:p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   + 形状校验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566160"/>
            <a:ext cx="3566160" cy="109728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3566160"/>
            <a:ext cx="73152" cy="109728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3703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⑥ 物理约束 Tracker</a:t>
            </a:r>
          </a:p>
          <a:p>
            <a:pPr algn="l"/>
            <a:r>
              <a:rPr sz="1300" b="1">
                <a:solidFill>
                  <a:srgbClr val="EAEAEA"/>
                </a:solidFill>
                <a:latin typeface="PingFang SC"/>
              </a:rPr>
              <a:t>   + 速度/轨迹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solidFill>
            <a:srgbClr val="24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212080"/>
            <a:ext cx="91440" cy="118872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1FE00"/>
                </a:solidFill>
                <a:latin typeface="Helvetica Neue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ingFang SC"/>
              </a:rPr>
              <a:t>误检率从 ~60% 降到 ~15%（小样本估算）。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PingFang SC"/>
              </a:rPr>
              <a:t>当前版本在 3 段测试视频上检测成功率约 85%。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06 /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ARCHITECTURE · 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前端 + BaaS · 无自建后端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20624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91440" cy="42062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1FE00"/>
                </a:solidFill>
                <a:latin typeface="Helvetica Neue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React 19 + Vite 6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Tailwind CSS 4（Material Design 3 tokens）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Motion (Framer Motion) 动效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React Router 7（HashRouter）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lucide-react 图标系统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Canvas + Video 原生 API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MediaRecorder webm/vp9 录制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自研 useVideoAnalysis Hook（CV 管线）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20624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91440" cy="42062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1FE00"/>
                </a:solidFill>
                <a:latin typeface="Helvetica Neue"/>
              </a:rPr>
              <a:t>BACKEND · 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Supabase Auth（邮箱密码）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PostgreSQL 4 张表：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    profiles / match_sessions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    performance_stats / training_progress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Row Level Security 全表开启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Storage videos bucket（按 userId 隔离）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注册触发器自动创建 profile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• 删除记录联动清理 Storage 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07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METRICS · 数据与成功指标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</a:rPr>
              <a:t>北极星 + 5 个过程指标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1064240" cy="137160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20F"/>
                </a:solidFill>
                <a:latin typeface="Helvetica Neue"/>
              </a:rPr>
              <a:t>★ NORTH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20F"/>
                </a:solidFill>
                <a:latin typeface="PingFang SC"/>
              </a:rPr>
              <a:t>WRU — Weekly Recording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20F"/>
                </a:solidFill>
                <a:latin typeface="PingFang SC"/>
              </a:rPr>
              <a:t>每周完成一次完整分析录制的活跃用户数。同时绑定了意愿、能力与产品价值。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210312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注册完成率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A1FE00"/>
                </a:solidFill>
                <a:latin typeface="Helvetica Neue"/>
              </a:rPr>
              <a:t>≥ 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3840480"/>
            <a:ext cx="210312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3840480"/>
            <a:ext cx="73152" cy="210312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023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首次录制转化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57200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A1FE00"/>
                </a:solidFill>
                <a:latin typeface="Helvetica Neue"/>
              </a:rPr>
              <a:t>≥ 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840480"/>
            <a:ext cx="210312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3840480"/>
            <a:ext cx="73152" cy="210312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4023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视频检测成功率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57200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A1FE00"/>
                </a:solidFill>
                <a:latin typeface="Helvetica Neue"/>
              </a:rPr>
              <a:t>≥ 70%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3840480"/>
            <a:ext cx="210312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3840480"/>
            <a:ext cx="73152" cy="210312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023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7 日留存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57200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A1FE00"/>
                </a:solidFill>
                <a:latin typeface="Helvetica Neue"/>
              </a:rPr>
              <a:t>≥ 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3840480"/>
            <a:ext cx="210312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3840480"/>
            <a:ext cx="73152" cy="210312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4023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周均录制数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57200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A1FE00"/>
                </a:solidFill>
                <a:latin typeface="Helvetica Neue"/>
              </a:rPr>
              <a:t>≥ 2 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08 /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SIGNATURE DETAILS · 3 个可讲的小故事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ingFang SC"/>
              </a:rPr>
              <a:t>小决策，大信号。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11887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A1FE00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显示「--」而非「0」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88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未检测到球时显示双短横而非数字 0。   演示中发现用户看到 0 会疑惑，而「--」是 BBC/NBC 转播惯例——符合专业仪表盘心智。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11064240" cy="11887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A1FE00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03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保存失败自动下载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605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Supabase 上传失败不报错。   静默降级为浏览器本地下载，保证用户数据不丢失。产品可靠性 &gt; 功能先进性。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A1FE00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074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/>
              </a:rPr>
              <a:t>双仓库镜像推送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321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6A0"/>
                </a:solidFill>
                <a:latin typeface="PingFang SC"/>
              </a:rPr>
              <a:t>GitHub + Gitee 同步。   配置 origin 多 push URL，一次 git push 同时同步到两个远程，解决国内访问速度。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09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3200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1FE00"/>
                </a:solidFill>
                <a:latin typeface="Helvetica Neue"/>
              </a:rPr>
              <a:t>CLOSING · 反思与下一步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</a:rPr>
              <a:t>让产品从「工具」进化成「数据教练」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356616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566160" cy="914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A1FE00"/>
                </a:solidFill>
                <a:latin typeface="Helvetica Neue"/>
              </a:rPr>
              <a:t>接入 MediaPipe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识别球拍与人体关键点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→ 动作分析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743200"/>
            <a:ext cx="356616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2743200"/>
            <a:ext cx="3566160" cy="914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926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A1FE00"/>
                </a:solidFill>
                <a:latin typeface="Helvetica Neue"/>
              </a:rPr>
              <a:t>用户修正反哺算法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5661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「置信度 + 可修正帧」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→ 让用户成为数据教练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743200"/>
            <a:ext cx="3566160" cy="2103120"/>
          </a:xfrm>
          <a:prstGeom prst="rect">
            <a:avLst/>
          </a:prstGeom>
          <a:solidFill>
            <a:srgbClr val="1A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2743200"/>
            <a:ext cx="3566160" cy="9144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926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A1FE00"/>
                </a:solidFill>
                <a:latin typeface="Helvetica Neue"/>
              </a:rPr>
              <a:t>B 端：俱乐部账号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5661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教练看学员聚合数据</a:t>
            </a:r>
          </a:p>
          <a:p>
            <a:pPr algn="l"/>
            <a:r>
              <a:rPr sz="1300" b="0">
                <a:solidFill>
                  <a:srgbClr val="EAEAEA"/>
                </a:solidFill>
                <a:latin typeface="PingFang SC"/>
              </a:rPr>
              <a:t>→ 订阅制商业化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solidFill>
            <a:srgbClr val="A1F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20F"/>
                </a:solidFill>
                <a:latin typeface="Helvetica Neue"/>
              </a:rPr>
              <a:t>THANKS · 欢迎任意追问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20F"/>
                </a:solidFill>
                <a:latin typeface="PingFang SC"/>
              </a:rPr>
              <a:t>GitHub github.com/xcdh807/tennisline   ·   Gitee gitee.com/star-sea-807/tennisline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0A6A0"/>
                </a:solidFill>
                <a:latin typeface="PingFang SC"/>
              </a:rPr>
              <a:t>10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0A6A0"/>
                </a:solidFill>
                <a:latin typeface="PingFang SC"/>
              </a:rPr>
              <a:t>TennisLine · 口袋里的鹰眼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